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16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Cambria"/>
              </a:rPr>
              <a:t>Structural Ontology Refresh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C9871F"/>
                </a:solidFill>
                <a:latin typeface="Calibri"/>
              </a:rPr>
              <a:t>Turning source schema evolution into approved, AI-assisted ontology change proposals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392424" cy="1143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ctr"/>
            <a:r>
              <a:rPr sz="850" b="1" i="0" spc="60">
                <a:solidFill>
                  <a:srgbClr val="D9DEEC"/>
                </a:solidFill>
                <a:latin typeface="Calibri"/>
              </a:rPr>
              <a:t>AUTOMATED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Detect Schema Changes</a:t>
            </a:r>
          </a:p>
          <a:p>
            <a:pPr>
              <a:spcBef>
                <a:spcPts val="300"/>
              </a:spcBef>
            </a:pPr>
            <a:r>
              <a:rPr sz="950" b="0" i="1">
                <a:solidFill>
                  <a:srgbClr val="FFFFFF"/>
                </a:solidFill>
                <a:latin typeface="Calibri"/>
              </a:rPr>
              <a:t>INFORMATION_SCHEMA diff finds new columns &amp; tables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55448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1691640"/>
            <a:ext cx="3392424" cy="1143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ctr"/>
            <a:r>
              <a:rPr sz="850" b="1" i="0" spc="60">
                <a:solidFill>
                  <a:srgbClr val="D9DEEC"/>
                </a:solidFill>
                <a:latin typeface="Calibri"/>
              </a:rPr>
              <a:t>AUTOMATED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Classify by Rules</a:t>
            </a:r>
          </a:p>
          <a:p>
            <a:pPr>
              <a:spcBef>
                <a:spcPts val="300"/>
              </a:spcBef>
            </a:pPr>
            <a:r>
              <a:rPr sz="950" b="0" i="1">
                <a:solidFill>
                  <a:srgbClr val="FFFFFF"/>
                </a:solidFill>
                <a:latin typeface="Calibri"/>
              </a:rPr>
              <a:t>Deterministic decision tree: attribute, node, or edge?</a:t>
            </a:r>
          </a:p>
        </p:txBody>
      </p:sp>
      <p:sp>
        <p:nvSpPr>
          <p:cNvPr id="7" name="Oval 6"/>
          <p:cNvSpPr/>
          <p:nvPr/>
        </p:nvSpPr>
        <p:spPr>
          <a:xfrm>
            <a:off x="4261104" y="155448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47888" y="1691640"/>
            <a:ext cx="3392424" cy="1143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ctr"/>
            <a:r>
              <a:rPr sz="850" b="1" i="0" spc="60">
                <a:solidFill>
                  <a:srgbClr val="D9DEEC"/>
                </a:solidFill>
                <a:latin typeface="Calibri"/>
              </a:rPr>
              <a:t>AUTOMATED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Refine by AI</a:t>
            </a:r>
          </a:p>
          <a:p>
            <a:pPr>
              <a:spcBef>
                <a:spcPts val="300"/>
              </a:spcBef>
            </a:pPr>
            <a:r>
              <a:rPr sz="950" b="0" i="1">
                <a:solidFill>
                  <a:srgbClr val="FFFFFF"/>
                </a:solidFill>
                <a:latin typeface="Calibri"/>
              </a:rPr>
              <a:t>LLM sanity-checks the rules &amp; calibrates confidence</a:t>
            </a:r>
          </a:p>
        </p:txBody>
      </p:sp>
      <p:sp>
        <p:nvSpPr>
          <p:cNvPr id="9" name="Oval 8"/>
          <p:cNvSpPr/>
          <p:nvPr/>
        </p:nvSpPr>
        <p:spPr>
          <a:xfrm>
            <a:off x="8110728" y="155448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3611880"/>
            <a:ext cx="3392424" cy="1143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ctr"/>
            <a:r>
              <a:rPr sz="850" b="1" i="0" spc="60">
                <a:solidFill>
                  <a:srgbClr val="D9DEEC"/>
                </a:solidFill>
                <a:latin typeface="Calibri"/>
              </a:rPr>
              <a:t>AUTOMATED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Proposals Generated</a:t>
            </a:r>
          </a:p>
          <a:p>
            <a:pPr>
              <a:spcBef>
                <a:spcPts val="300"/>
              </a:spcBef>
            </a:pPr>
            <a:r>
              <a:rPr sz="950" b="0" i="1">
                <a:solidFill>
                  <a:srgbClr val="FFFFFF"/>
                </a:solidFill>
                <a:latin typeface="Calibri"/>
              </a:rPr>
              <a:t>Deduped and staged in the business review queue</a:t>
            </a:r>
          </a:p>
        </p:txBody>
      </p:sp>
      <p:sp>
        <p:nvSpPr>
          <p:cNvPr id="11" name="Oval 10"/>
          <p:cNvSpPr/>
          <p:nvPr/>
        </p:nvSpPr>
        <p:spPr>
          <a:xfrm>
            <a:off x="8110728" y="347472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3611880"/>
            <a:ext cx="3392424" cy="1143000"/>
          </a:xfrm>
          <a:prstGeom prst="roundRect">
            <a:avLst>
              <a:gd name="adj" fmla="val 6000"/>
            </a:avLst>
          </a:prstGeom>
          <a:solidFill>
            <a:srgbClr val="C98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ctr"/>
            <a:r>
              <a:rPr sz="850" b="1" i="0" spc="60">
                <a:solidFill>
                  <a:srgbClr val="FBECD4"/>
                </a:solidFill>
                <a:latin typeface="Calibri"/>
              </a:rPr>
              <a:t>HUMAN GATE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Streamlit UI — Human Approves</a:t>
            </a:r>
          </a:p>
          <a:p>
            <a:pPr>
              <a:spcBef>
                <a:spcPts val="300"/>
              </a:spcBef>
            </a:pPr>
            <a:r>
              <a:rPr sz="950" b="0" i="1">
                <a:solidFill>
                  <a:srgbClr val="3A2A08"/>
                </a:solidFill>
                <a:latin typeface="Calibri"/>
              </a:rPr>
              <a:t>BA reviews, edits, and approves / rejects / defers</a:t>
            </a:r>
          </a:p>
        </p:txBody>
      </p:sp>
      <p:sp>
        <p:nvSpPr>
          <p:cNvPr id="13" name="Oval 12"/>
          <p:cNvSpPr/>
          <p:nvPr/>
        </p:nvSpPr>
        <p:spPr>
          <a:xfrm>
            <a:off x="4261104" y="347472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C9871F"/>
                </a:solidFill>
                <a:latin typeface="Calibr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3392424" cy="1143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ctr"/>
            <a:r>
              <a:rPr sz="850" b="1" i="0" spc="60">
                <a:solidFill>
                  <a:srgbClr val="D9DEEC"/>
                </a:solidFill>
                <a:latin typeface="Calibri"/>
              </a:rPr>
              <a:t>AUTOMATED · POST-APPROVAL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Code Generated</a:t>
            </a:r>
          </a:p>
          <a:p>
            <a:pPr>
              <a:spcBef>
                <a:spcPts val="300"/>
              </a:spcBef>
            </a:pPr>
            <a:r>
              <a:rPr sz="950" b="0" i="1">
                <a:solidFill>
                  <a:srgbClr val="FFFFFF"/>
                </a:solidFill>
                <a:latin typeface="Calibri"/>
              </a:rPr>
              <a:t>Template draft, then AI-refined — staged for developer review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347472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1E2761"/>
                </a:solidFill>
                <a:latin typeface="Calibri"/>
              </a:rPr>
              <a:t>6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41064" y="2162556"/>
            <a:ext cx="457200" cy="201168"/>
          </a:xfrm>
          <a:prstGeom prst="rightArrow">
            <a:avLst/>
          </a:prstGeom>
          <a:solidFill>
            <a:srgbClr val="AFB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790688" y="2162556"/>
            <a:ext cx="457200" cy="201168"/>
          </a:xfrm>
          <a:prstGeom prst="rightArrow">
            <a:avLst/>
          </a:prstGeom>
          <a:solidFill>
            <a:srgbClr val="AFB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7790688" y="4082796"/>
            <a:ext cx="457200" cy="201168"/>
          </a:xfrm>
          <a:prstGeom prst="leftArrow">
            <a:avLst/>
          </a:prstGeom>
          <a:solidFill>
            <a:srgbClr val="AFB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3941064" y="4082796"/>
            <a:ext cx="457200" cy="201168"/>
          </a:xfrm>
          <a:prstGeom prst="leftArrow">
            <a:avLst/>
          </a:prstGeom>
          <a:solidFill>
            <a:srgbClr val="AFB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9843516" y="2834640"/>
            <a:ext cx="201168" cy="777240"/>
          </a:xfrm>
          <a:prstGeom prst="downArrow">
            <a:avLst/>
          </a:prstGeom>
          <a:solidFill>
            <a:srgbClr val="AFB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1">
                <a:solidFill>
                  <a:srgbClr val="555863"/>
                </a:solidFill>
                <a:latin typeface="Calibri"/>
              </a:rPr>
              <a:t>Structural refresh: evolves what the ontology can represent (new node/edge types) — distinct from a data-level refresh that keeps existing types populated with fresh rows. Generated code is staged for developer review, never applied automatically.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Cambria"/>
              </a:rPr>
              <a:t>Detect: Schema Fingerprinting &amp;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248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9871F"/>
                </a:solidFill>
                <a:latin typeface="Calibri"/>
              </a:rPr>
              <a:t>Every cycle snapshots INFORMATION_SCHEMA and diffs it against the last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10640"/>
            <a:ext cx="5410047" cy="48006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1. Fingerprint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SELECT table_schema, table_name,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     column_name, data_type,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     ordinal_position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FROM   INFORMATION_SCHEMA.COLUMNS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WHERE  table_schema = :SRC_SCHEMA;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stored as one row per column in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ORE_SCHEMA_FINGERPRINT, timestamped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per detection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310640"/>
            <a:ext cx="5410047" cy="48006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2. Compare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SELECT COALESCE(cur.column_name,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               prev.column_name) AS col,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CASE WHEN prev.column_name IS NULL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       THEN 'NEW'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     WHEN cur.column_name  IS NULL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       THEN 'DROPPED' END AS change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FROM   curr_snapshot cur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FULL OUTER JOIN prev_snapshot prev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ON cur.table_name  = prev.table_name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AND cur.column_name = prev.column_name;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C9871F"/>
                </a:solidFill>
                <a:latin typeface="Calibri"/>
              </a:rPr>
              <a:t>FK constraints  </a:t>
            </a:r>
            <a:r>
              <a:rPr sz="1150" b="0">
                <a:solidFill>
                  <a:srgbClr val="555863"/>
                </a:solidFill>
                <a:latin typeface="Calibri"/>
              </a:rPr>
              <a:t>tell us directly how tables relate when they're declared. Where they're missing, naming convention, column comments, and industry knowledge fill the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Cambria"/>
              </a:rPr>
              <a:t>Classify: Rules First, AI Second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248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9871F"/>
                </a:solidFill>
                <a:latin typeface="Calibri"/>
              </a:rPr>
              <a:t>A deterministic decision tree, then an AI pass that scores confidence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10640"/>
            <a:ext cx="5410047" cy="4800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7C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Rule engine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•  New scalar column → ATTRIBUTE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•  New FK column → EDGE_TYPE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   (self-referencing = hierarchy)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•  New table, PK = both FKs, ≤1 extra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   attribute → EDGE_TYPE, auto-approved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   junction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•  New table, PK mostly FKs but real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   attributes remain → FLAGGED for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   business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310640"/>
            <a:ext cx="5410047" cy="48006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AI augmentation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SELECT AI_COMPLETE(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model  =&gt; :ai_model,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prompt =&gt; build_prompt(candidate),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response_format =&gt; {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  'recommended_kind': STRING,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  'confidence':       FLOAT,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  'rationale':        STRING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}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);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agrees / disagrees with the rule,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confidence travels with the candidate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55863"/>
                </a:solidFill>
                <a:latin typeface="Calibri"/>
              </a:rPr>
              <a:t>The rule engine decides on its own whenever the pattern is unambiguous. AI only reviews the cases the rules already flagged.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Cambria"/>
              </a:rPr>
              <a:t>Review &amp; Approve: Streamlit-in-Snowflake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248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9871F"/>
                </a:solidFill>
                <a:latin typeface="Calibri"/>
              </a:rPr>
              <a:t>Two tabs -- decide first, generate second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10640"/>
            <a:ext cx="5410047" cy="4800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7C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Tab 1 · Review Proposals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•  Rule classification and AI recommendation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   shown side by side, per candidate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•  Business user can overwrite the final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   name and final kind before deciding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•  Approve / Reject / Defer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   → RECORD_DECISION(...)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•  DECIDED_BY / DECIDED_TS captured from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   the session automatically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310640"/>
            <a:ext cx="5410047" cy="4800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7C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Tab 2 · Generate Code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•  One batch action over every approved,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   not-yet-generated proposal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•  session.call('GENERATE_ARTIFACTS', ...)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   then session.call('REFINE_ARTIFACTS')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•  Template SQL and AI-refined SQL shown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   side by side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•  Read-only -- nothing on this tab writes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384A"/>
                </a:solidFill>
                <a:latin typeface="Calibri"/>
              </a:rPr>
              <a:t>   to ONT_*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55863"/>
                </a:solidFill>
                <a:latin typeface="Calibri"/>
              </a:rPr>
              <a:t>Every write goes through a stored procedure -- the app itself never touches STATUS, audit-log, or generated-SQL columns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Cambria"/>
              </a:rPr>
              <a:t>Generate: Template First, AI-Refined Second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248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9871F"/>
                </a:solidFill>
                <a:latin typeface="Calibri"/>
              </a:rPr>
              <a:t>A mechanical draft, then a narrowly-scoped AI polish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10640"/>
            <a:ext cx="5410047" cy="48006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1. GENERATE_ARTIFACTS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CALL GENERATE_ARTIFACTS(:ontology_schema);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builds DDL/DML straight from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FINAL_NAME / FINAL_OBJECT_KIND: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  CREATE TABLE ...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  ALTER TABLE ... ADD COLUMN ...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  CREATE VIEW V_ONT_&lt;type&gt; ...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deterministic, template-based,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no AI call in this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310640"/>
            <a:ext cx="5410047" cy="48006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2. REFINE_ARTIFACTS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SELECT AI_COMPLETE(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model  =&gt; :ai_model,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prompt =&gt; 'Improve names &amp; comments only',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  response_format =&gt; {'refined_sql': STRING}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);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/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schema narrowed to one field --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AI can only touch names/comments,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D9DEEC"/>
                </a:solidFill>
                <a:latin typeface="Consolas"/>
              </a:rPr>
              <a:t>-- never table structure or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55863"/>
                </a:solidFill>
                <a:latin typeface="Calibri"/>
              </a:rPr>
              <a:t>Every generated statement is staged in ORE_GENERATED_ARTIFACTS for a developer to review -- nothing runs against source or ontology tables automatically.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Structural Ontology Refresh Engine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